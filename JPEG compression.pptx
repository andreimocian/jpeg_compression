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Lato" panose="020F0502020204030203" pitchFamily="34" charset="0"/>
      <p:regular r:id="rId15"/>
      <p:bold r:id="rId16"/>
      <p:italic r:id="rId17"/>
      <p:boldItalic r:id="rId18"/>
    </p:embeddedFont>
    <p:embeddedFont>
      <p:font typeface="Raleway" panose="020F0502020204030204"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300" y="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5f6af9dd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5f6af9d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46ee7dff8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46ee7dff8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7319fbdbe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e7319fbdb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7319fbdbe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7319fbdb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e7319fbdbe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e7319fbdbe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e7319fbdbe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e7319fbdbe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e7319fbdbe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e7319fbdbe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e7319fbdbe_0_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e7319fbdbe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e7319fbdbe_0_2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e7319fbdbe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e7319fbdbe_0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e7319fbdbe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e7319fbdbe_0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e7319fbdbe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e7319fbdbe_0_6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e7319fbdbe_0_6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29450" y="1322450"/>
            <a:ext cx="3787800" cy="19881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4000"/>
              <a:buNone/>
              <a:defRPr sz="4000">
                <a:solidFill>
                  <a:schemeClr val="dk2"/>
                </a:solidFill>
              </a:defRPr>
            </a:lvl2pPr>
            <a:lvl3pPr lvl="2">
              <a:spcBef>
                <a:spcPts val="0"/>
              </a:spcBef>
              <a:spcAft>
                <a:spcPts val="0"/>
              </a:spcAft>
              <a:buClr>
                <a:schemeClr val="dk2"/>
              </a:buClr>
              <a:buSzPts val="4000"/>
              <a:buNone/>
              <a:defRPr sz="4000">
                <a:solidFill>
                  <a:schemeClr val="dk2"/>
                </a:solidFill>
              </a:defRPr>
            </a:lvl3pPr>
            <a:lvl4pPr lvl="3">
              <a:spcBef>
                <a:spcPts val="0"/>
              </a:spcBef>
              <a:spcAft>
                <a:spcPts val="0"/>
              </a:spcAft>
              <a:buClr>
                <a:schemeClr val="dk2"/>
              </a:buClr>
              <a:buSzPts val="4000"/>
              <a:buNone/>
              <a:defRPr sz="4000">
                <a:solidFill>
                  <a:schemeClr val="dk2"/>
                </a:solidFill>
              </a:defRPr>
            </a:lvl4pPr>
            <a:lvl5pPr lvl="4">
              <a:spcBef>
                <a:spcPts val="0"/>
              </a:spcBef>
              <a:spcAft>
                <a:spcPts val="0"/>
              </a:spcAft>
              <a:buClr>
                <a:schemeClr val="dk2"/>
              </a:buClr>
              <a:buSzPts val="4000"/>
              <a:buNone/>
              <a:defRPr sz="4000">
                <a:solidFill>
                  <a:schemeClr val="dk2"/>
                </a:solidFill>
              </a:defRPr>
            </a:lvl5pPr>
            <a:lvl6pPr lvl="5">
              <a:spcBef>
                <a:spcPts val="0"/>
              </a:spcBef>
              <a:spcAft>
                <a:spcPts val="0"/>
              </a:spcAft>
              <a:buClr>
                <a:schemeClr val="dk2"/>
              </a:buClr>
              <a:buSzPts val="4000"/>
              <a:buNone/>
              <a:defRPr sz="4000">
                <a:solidFill>
                  <a:schemeClr val="dk2"/>
                </a:solidFill>
              </a:defRPr>
            </a:lvl6pPr>
            <a:lvl7pPr lvl="6">
              <a:spcBef>
                <a:spcPts val="0"/>
              </a:spcBef>
              <a:spcAft>
                <a:spcPts val="0"/>
              </a:spcAft>
              <a:buClr>
                <a:schemeClr val="dk2"/>
              </a:buClr>
              <a:buSzPts val="4000"/>
              <a:buNone/>
              <a:defRPr sz="4000">
                <a:solidFill>
                  <a:schemeClr val="dk2"/>
                </a:solidFill>
              </a:defRPr>
            </a:lvl7pPr>
            <a:lvl8pPr lvl="7">
              <a:spcBef>
                <a:spcPts val="0"/>
              </a:spcBef>
              <a:spcAft>
                <a:spcPts val="0"/>
              </a:spcAft>
              <a:buClr>
                <a:schemeClr val="dk2"/>
              </a:buClr>
              <a:buSzPts val="4000"/>
              <a:buNone/>
              <a:defRPr sz="4000">
                <a:solidFill>
                  <a:schemeClr val="dk2"/>
                </a:solidFill>
              </a:defRPr>
            </a:lvl8pPr>
            <a:lvl9pPr lvl="8">
              <a:spcBef>
                <a:spcPts val="0"/>
              </a:spcBef>
              <a:spcAft>
                <a:spcPts val="0"/>
              </a:spcAft>
              <a:buClr>
                <a:schemeClr val="dk2"/>
              </a:buClr>
              <a:buSzPts val="4000"/>
              <a:buNone/>
              <a:defRPr sz="4000">
                <a:solidFill>
                  <a:schemeClr val="dk2"/>
                </a:solidFill>
              </a:defRPr>
            </a:lvl9pPr>
          </a:lstStyle>
          <a:p>
            <a:endParaRPr/>
          </a:p>
        </p:txBody>
      </p:sp>
      <p:sp>
        <p:nvSpPr>
          <p:cNvPr id="11" name="Google Shape;11;p2"/>
          <p:cNvSpPr txBox="1">
            <a:spLocks noGrp="1"/>
          </p:cNvSpPr>
          <p:nvPr>
            <p:ph type="subTitle" idx="1"/>
          </p:nvPr>
        </p:nvSpPr>
        <p:spPr>
          <a:xfrm>
            <a:off x="729595" y="3401500"/>
            <a:ext cx="3787800" cy="54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2" name="Google Shape;12;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13" name="Google Shape;13;p2"/>
          <p:cNvGrpSpPr/>
          <p:nvPr/>
        </p:nvGrpSpPr>
        <p:grpSpPr>
          <a:xfrm>
            <a:off x="830392" y="1191256"/>
            <a:ext cx="745763" cy="45826"/>
            <a:chOff x="4580561" y="2589004"/>
            <a:chExt cx="1064464" cy="25200"/>
          </a:xfrm>
        </p:grpSpPr>
        <p:sp>
          <p:nvSpPr>
            <p:cNvPr id="14" name="Google Shape;14;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TITLE_1">
    <p:bg>
      <p:bgPr>
        <a:solidFill>
          <a:schemeClr val="lt2"/>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729450" y="1322450"/>
            <a:ext cx="3787800" cy="198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4000"/>
              <a:buNone/>
              <a:defRPr sz="4000">
                <a:solidFill>
                  <a:schemeClr val="dk2"/>
                </a:solidFill>
              </a:defRPr>
            </a:lvl1pPr>
            <a:lvl2pPr lvl="1" rtl="0">
              <a:spcBef>
                <a:spcPts val="0"/>
              </a:spcBef>
              <a:spcAft>
                <a:spcPts val="0"/>
              </a:spcAft>
              <a:buClr>
                <a:schemeClr val="dk2"/>
              </a:buClr>
              <a:buSzPts val="4000"/>
              <a:buNone/>
              <a:defRPr sz="4000">
                <a:solidFill>
                  <a:schemeClr val="dk2"/>
                </a:solidFill>
              </a:defRPr>
            </a:lvl2pPr>
            <a:lvl3pPr lvl="2" rtl="0">
              <a:spcBef>
                <a:spcPts val="0"/>
              </a:spcBef>
              <a:spcAft>
                <a:spcPts val="0"/>
              </a:spcAft>
              <a:buClr>
                <a:schemeClr val="dk2"/>
              </a:buClr>
              <a:buSzPts val="4000"/>
              <a:buNone/>
              <a:defRPr sz="4000">
                <a:solidFill>
                  <a:schemeClr val="dk2"/>
                </a:solidFill>
              </a:defRPr>
            </a:lvl3pPr>
            <a:lvl4pPr lvl="3" rtl="0">
              <a:spcBef>
                <a:spcPts val="0"/>
              </a:spcBef>
              <a:spcAft>
                <a:spcPts val="0"/>
              </a:spcAft>
              <a:buClr>
                <a:schemeClr val="dk2"/>
              </a:buClr>
              <a:buSzPts val="4000"/>
              <a:buNone/>
              <a:defRPr sz="4000">
                <a:solidFill>
                  <a:schemeClr val="dk2"/>
                </a:solidFill>
              </a:defRPr>
            </a:lvl4pPr>
            <a:lvl5pPr lvl="4" rtl="0">
              <a:spcBef>
                <a:spcPts val="0"/>
              </a:spcBef>
              <a:spcAft>
                <a:spcPts val="0"/>
              </a:spcAft>
              <a:buClr>
                <a:schemeClr val="dk2"/>
              </a:buClr>
              <a:buSzPts val="4000"/>
              <a:buNone/>
              <a:defRPr sz="4000">
                <a:solidFill>
                  <a:schemeClr val="dk2"/>
                </a:solidFill>
              </a:defRPr>
            </a:lvl5pPr>
            <a:lvl6pPr lvl="5" rtl="0">
              <a:spcBef>
                <a:spcPts val="0"/>
              </a:spcBef>
              <a:spcAft>
                <a:spcPts val="0"/>
              </a:spcAft>
              <a:buClr>
                <a:schemeClr val="dk2"/>
              </a:buClr>
              <a:buSzPts val="4000"/>
              <a:buNone/>
              <a:defRPr sz="4000">
                <a:solidFill>
                  <a:schemeClr val="dk2"/>
                </a:solidFill>
              </a:defRPr>
            </a:lvl6pPr>
            <a:lvl7pPr lvl="6" rtl="0">
              <a:spcBef>
                <a:spcPts val="0"/>
              </a:spcBef>
              <a:spcAft>
                <a:spcPts val="0"/>
              </a:spcAft>
              <a:buClr>
                <a:schemeClr val="dk2"/>
              </a:buClr>
              <a:buSzPts val="4000"/>
              <a:buNone/>
              <a:defRPr sz="4000">
                <a:solidFill>
                  <a:schemeClr val="dk2"/>
                </a:solidFill>
              </a:defRPr>
            </a:lvl7pPr>
            <a:lvl8pPr lvl="7" rtl="0">
              <a:spcBef>
                <a:spcPts val="0"/>
              </a:spcBef>
              <a:spcAft>
                <a:spcPts val="0"/>
              </a:spcAft>
              <a:buClr>
                <a:schemeClr val="dk2"/>
              </a:buClr>
              <a:buSzPts val="4000"/>
              <a:buNone/>
              <a:defRPr sz="4000">
                <a:solidFill>
                  <a:schemeClr val="dk2"/>
                </a:solidFill>
              </a:defRPr>
            </a:lvl8pPr>
            <a:lvl9pPr lvl="8" rtl="0">
              <a:spcBef>
                <a:spcPts val="0"/>
              </a:spcBef>
              <a:spcAft>
                <a:spcPts val="0"/>
              </a:spcAft>
              <a:buClr>
                <a:schemeClr val="dk2"/>
              </a:buClr>
              <a:buSzPts val="4000"/>
              <a:buNone/>
              <a:defRPr sz="4000">
                <a:solidFill>
                  <a:schemeClr val="dk2"/>
                </a:solidFill>
              </a:defRPr>
            </a:lvl9pPr>
          </a:lstStyle>
          <a:p>
            <a:endParaRPr/>
          </a:p>
        </p:txBody>
      </p:sp>
      <p:sp>
        <p:nvSpPr>
          <p:cNvPr id="19" name="Google Shape;19;p3"/>
          <p:cNvSpPr txBox="1">
            <a:spLocks noGrp="1"/>
          </p:cNvSpPr>
          <p:nvPr>
            <p:ph type="subTitle" idx="1"/>
          </p:nvPr>
        </p:nvSpPr>
        <p:spPr>
          <a:xfrm>
            <a:off x="729595" y="3401500"/>
            <a:ext cx="3787800" cy="5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20" name="Google Shape;20;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grpSp>
        <p:nvGrpSpPr>
          <p:cNvPr id="21" name="Google Shape;21;p3"/>
          <p:cNvGrpSpPr/>
          <p:nvPr/>
        </p:nvGrpSpPr>
        <p:grpSpPr>
          <a:xfrm>
            <a:off x="830392" y="1191256"/>
            <a:ext cx="745763" cy="45826"/>
            <a:chOff x="4580561" y="2589004"/>
            <a:chExt cx="1064464" cy="25200"/>
          </a:xfrm>
        </p:grpSpPr>
        <p:sp>
          <p:nvSpPr>
            <p:cNvPr id="22" name="Google Shape;22;p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3"/>
          <p:cNvSpPr/>
          <p:nvPr/>
        </p:nvSpPr>
        <p:spPr>
          <a:xfrm>
            <a:off x="0" y="1"/>
            <a:ext cx="9144000" cy="467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3"/>
          <p:cNvGrpSpPr/>
          <p:nvPr/>
        </p:nvGrpSpPr>
        <p:grpSpPr>
          <a:xfrm>
            <a:off x="5063224" y="1313339"/>
            <a:ext cx="3459829" cy="2670551"/>
            <a:chOff x="3553042" y="1657806"/>
            <a:chExt cx="3461100" cy="2671532"/>
          </a:xfrm>
        </p:grpSpPr>
        <p:sp>
          <p:nvSpPr>
            <p:cNvPr id="26" name="Google Shape;26;p3"/>
            <p:cNvSpPr/>
            <p:nvPr/>
          </p:nvSpPr>
          <p:spPr>
            <a:xfrm>
              <a:off x="4856024" y="3625653"/>
              <a:ext cx="944700" cy="663300"/>
            </a:xfrm>
            <a:prstGeom prst="trapezoid">
              <a:avLst>
                <a:gd name="adj" fmla="val 2500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10800000">
              <a:off x="4953871" y="3681997"/>
              <a:ext cx="400200" cy="606600"/>
            </a:xfrm>
            <a:prstGeom prst="triangle">
              <a:avLst>
                <a:gd name="adj" fmla="val 96745"/>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4767796" y="3681816"/>
              <a:ext cx="163500" cy="606600"/>
            </a:xfrm>
            <a:prstGeom prst="triangle">
              <a:avLst>
                <a:gd name="adj" fmla="val 98558"/>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10800000">
              <a:off x="4678237" y="4276102"/>
              <a:ext cx="1210800" cy="45600"/>
            </a:xfrm>
            <a:prstGeom prst="roundRect">
              <a:avLst>
                <a:gd name="adj" fmla="val 5000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10800000">
              <a:off x="4668343" y="4283738"/>
              <a:ext cx="1230600" cy="45600"/>
            </a:xfrm>
            <a:prstGeom prst="roundRect">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926950" y="3681915"/>
              <a:ext cx="42900" cy="5943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3553042" y="1674645"/>
              <a:ext cx="3461100" cy="2014500"/>
            </a:xfrm>
            <a:prstGeom prst="roundRect">
              <a:avLst>
                <a:gd name="adj" fmla="val 1882"/>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3553042" y="1657806"/>
              <a:ext cx="3461100" cy="2014500"/>
            </a:xfrm>
            <a:prstGeom prst="roundRect">
              <a:avLst>
                <a:gd name="adj" fmla="val 1764"/>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4" name="Google Shape;34;p3" descr="Component Detail"/>
          <p:cNvPicPr preferRelativeResize="0"/>
          <p:nvPr/>
        </p:nvPicPr>
        <p:blipFill rotWithShape="1">
          <a:blip r:embed="rId2">
            <a:alphaModFix/>
          </a:blip>
          <a:srcRect b="25077"/>
          <a:stretch/>
        </p:blipFill>
        <p:spPr>
          <a:xfrm>
            <a:off x="5161725" y="1399791"/>
            <a:ext cx="3262825" cy="1833425"/>
          </a:xfrm>
          <a:prstGeom prst="rect">
            <a:avLst/>
          </a:prstGeom>
          <a:noFill/>
          <a:ln>
            <a:noFill/>
          </a:ln>
        </p:spPr>
      </p:pic>
      <p:sp>
        <p:nvSpPr>
          <p:cNvPr id="35" name="Google Shape;35;p3"/>
          <p:cNvSpPr/>
          <p:nvPr/>
        </p:nvSpPr>
        <p:spPr>
          <a:xfrm flipH="1">
            <a:off x="5156196" y="1401826"/>
            <a:ext cx="3268577" cy="1812993"/>
          </a:xfrm>
          <a:prstGeom prst="rtTriangle">
            <a:avLst/>
          </a:prstGeom>
          <a:solidFill>
            <a:srgbClr val="000000">
              <a:alpha val="3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3"/>
          <p:cNvGrpSpPr/>
          <p:nvPr/>
        </p:nvGrpSpPr>
        <p:grpSpPr>
          <a:xfrm>
            <a:off x="7666681" y="2077877"/>
            <a:ext cx="1148179" cy="2282764"/>
            <a:chOff x="7666681" y="2077877"/>
            <a:chExt cx="1148179" cy="2282764"/>
          </a:xfrm>
        </p:grpSpPr>
        <p:grpSp>
          <p:nvGrpSpPr>
            <p:cNvPr id="37" name="Google Shape;37;p3"/>
            <p:cNvGrpSpPr/>
            <p:nvPr/>
          </p:nvGrpSpPr>
          <p:grpSpPr>
            <a:xfrm>
              <a:off x="7666681" y="2077877"/>
              <a:ext cx="1148179" cy="2282764"/>
              <a:chOff x="3983627" y="1676395"/>
              <a:chExt cx="1449538" cy="2881914"/>
            </a:xfrm>
          </p:grpSpPr>
          <p:sp>
            <p:nvSpPr>
              <p:cNvPr id="38" name="Google Shape;38;p3"/>
              <p:cNvSpPr/>
              <p:nvPr/>
            </p:nvSpPr>
            <p:spPr>
              <a:xfrm rot="-5400000">
                <a:off x="3276827" y="2404608"/>
                <a:ext cx="2860500" cy="1446900"/>
              </a:xfrm>
              <a:prstGeom prst="roundRect">
                <a:avLst>
                  <a:gd name="adj" fmla="val 4551"/>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rot="-5400000">
                <a:off x="3279465" y="2383195"/>
                <a:ext cx="2860500" cy="1446900"/>
              </a:xfrm>
              <a:prstGeom prst="roundRect">
                <a:avLst>
                  <a:gd name="adj" fmla="val 4551"/>
                </a:avLst>
              </a:pr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4473243" y="4318802"/>
                <a:ext cx="472800" cy="76800"/>
              </a:xfrm>
              <a:prstGeom prst="roundRect">
                <a:avLst>
                  <a:gd name="adj" fmla="val 50000"/>
                </a:avLst>
              </a:prstGeom>
              <a:solidFill>
                <a:srgbClr val="4B4B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 name="Google Shape;41;p3" descr="Mobile View"/>
            <p:cNvPicPr preferRelativeResize="0"/>
            <p:nvPr/>
          </p:nvPicPr>
          <p:blipFill rotWithShape="1">
            <a:blip r:embed="rId3">
              <a:alphaModFix/>
            </a:blip>
            <a:srcRect t="4363" b="4372"/>
            <a:stretch/>
          </p:blipFill>
          <p:spPr>
            <a:xfrm>
              <a:off x="7720839" y="2222723"/>
              <a:ext cx="1037555" cy="1833418"/>
            </a:xfrm>
            <a:prstGeom prst="rect">
              <a:avLst/>
            </a:prstGeom>
            <a:noFill/>
            <a:ln>
              <a:noFill/>
            </a:ln>
          </p:spPr>
        </p:pic>
        <p:sp>
          <p:nvSpPr>
            <p:cNvPr id="42" name="Google Shape;42;p3"/>
            <p:cNvSpPr/>
            <p:nvPr/>
          </p:nvSpPr>
          <p:spPr>
            <a:xfrm flipH="1">
              <a:off x="7722342" y="2222973"/>
              <a:ext cx="1037700" cy="1833000"/>
            </a:xfrm>
            <a:prstGeom prst="rtTriangle">
              <a:avLst/>
            </a:prstGeom>
            <a:solidFill>
              <a:srgbClr val="000000">
                <a:alpha val="3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3"/>
        <p:cNvGrpSpPr/>
        <p:nvPr/>
      </p:nvGrpSpPr>
      <p:grpSpPr>
        <a:xfrm>
          <a:off x="0" y="0"/>
          <a:ext cx="0" cy="0"/>
          <a:chOff x="0" y="0"/>
          <a:chExt cx="0" cy="0"/>
        </a:xfrm>
      </p:grpSpPr>
      <p:grpSp>
        <p:nvGrpSpPr>
          <p:cNvPr id="44" name="Google Shape;44;p4"/>
          <p:cNvGrpSpPr/>
          <p:nvPr/>
        </p:nvGrpSpPr>
        <p:grpSpPr>
          <a:xfrm>
            <a:off x="830392" y="1191256"/>
            <a:ext cx="745763" cy="45826"/>
            <a:chOff x="4580561" y="2589004"/>
            <a:chExt cx="1064464" cy="25200"/>
          </a:xfrm>
        </p:grpSpPr>
        <p:sp>
          <p:nvSpPr>
            <p:cNvPr id="45" name="Google Shape;45;p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a:endParaRPr/>
          </a:p>
        </p:txBody>
      </p:sp>
      <p:sp>
        <p:nvSpPr>
          <p:cNvPr id="48" name="Google Shape;48;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9"/>
        <p:cNvGrpSpPr/>
        <p:nvPr/>
      </p:nvGrpSpPr>
      <p:grpSpPr>
        <a:xfrm>
          <a:off x="0" y="0"/>
          <a:ext cx="0" cy="0"/>
          <a:chOff x="0" y="0"/>
          <a:chExt cx="0" cy="0"/>
        </a:xfrm>
      </p:grpSpPr>
      <p:sp>
        <p:nvSpPr>
          <p:cNvPr id="50" name="Google Shape;50;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 name="Google Shape;51;p5"/>
          <p:cNvGrpSpPr/>
          <p:nvPr/>
        </p:nvGrpSpPr>
        <p:grpSpPr>
          <a:xfrm>
            <a:off x="830392" y="1191256"/>
            <a:ext cx="745763" cy="45826"/>
            <a:chOff x="4580561" y="2589004"/>
            <a:chExt cx="1064464" cy="25200"/>
          </a:xfrm>
        </p:grpSpPr>
        <p:sp>
          <p:nvSpPr>
            <p:cNvPr id="52" name="Google Shape;52;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 name="Google Shape;54;p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55" name="Google Shape;55;p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6" name="Google Shape;56;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7"/>
        <p:cNvGrpSpPr/>
        <p:nvPr/>
      </p:nvGrpSpPr>
      <p:grpSpPr>
        <a:xfrm>
          <a:off x="0" y="0"/>
          <a:ext cx="0" cy="0"/>
          <a:chOff x="0" y="0"/>
          <a:chExt cx="0" cy="0"/>
        </a:xfrm>
      </p:grpSpPr>
      <p:sp>
        <p:nvSpPr>
          <p:cNvPr id="58" name="Google Shape;58;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 name="Google Shape;59;p6"/>
          <p:cNvGrpSpPr/>
          <p:nvPr/>
        </p:nvGrpSpPr>
        <p:grpSpPr>
          <a:xfrm>
            <a:off x="830392" y="1191256"/>
            <a:ext cx="745763" cy="45826"/>
            <a:chOff x="4580561" y="2589004"/>
            <a:chExt cx="1064464" cy="25200"/>
          </a:xfrm>
        </p:grpSpPr>
        <p:sp>
          <p:nvSpPr>
            <p:cNvPr id="60" name="Google Shape;60;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63" name="Google Shape;63;p6"/>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4" name="Google Shape;64;p6"/>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5" name="Google Shape;65;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
        <p:cNvGrpSpPr/>
        <p:nvPr/>
      </p:nvGrpSpPr>
      <p:grpSpPr>
        <a:xfrm>
          <a:off x="0" y="0"/>
          <a:ext cx="0" cy="0"/>
          <a:chOff x="0" y="0"/>
          <a:chExt cx="0" cy="0"/>
        </a:xfrm>
      </p:grpSpPr>
      <p:sp>
        <p:nvSpPr>
          <p:cNvPr id="67" name="Google Shape;67;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68;p7"/>
          <p:cNvGrpSpPr/>
          <p:nvPr/>
        </p:nvGrpSpPr>
        <p:grpSpPr>
          <a:xfrm>
            <a:off x="830392" y="1191256"/>
            <a:ext cx="745763" cy="45826"/>
            <a:chOff x="4580561" y="2589004"/>
            <a:chExt cx="1064464" cy="25200"/>
          </a:xfrm>
        </p:grpSpPr>
        <p:sp>
          <p:nvSpPr>
            <p:cNvPr id="69" name="Google Shape;69;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71;p7"/>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72" name="Google Shape;72;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6"/>
        <p:cNvGrpSpPr/>
        <p:nvPr/>
      </p:nvGrpSpPr>
      <p:grpSpPr>
        <a:xfrm>
          <a:off x="0" y="0"/>
          <a:ext cx="0" cy="0"/>
          <a:chOff x="0" y="0"/>
          <a:chExt cx="0" cy="0"/>
        </a:xfrm>
      </p:grpSpPr>
      <p:sp>
        <p:nvSpPr>
          <p:cNvPr id="77" name="Google Shape;77;p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9"/>
          <p:cNvGrpSpPr/>
          <p:nvPr/>
        </p:nvGrpSpPr>
        <p:grpSpPr>
          <a:xfrm>
            <a:off x="830392" y="1191256"/>
            <a:ext cx="745763" cy="45826"/>
            <a:chOff x="4580561" y="2589004"/>
            <a:chExt cx="1064464" cy="25200"/>
          </a:xfrm>
        </p:grpSpPr>
        <p:sp>
          <p:nvSpPr>
            <p:cNvPr id="79" name="Google Shape;79;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9"/>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82" name="Google Shape;82;p9"/>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83" name="Google Shape;83;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84"/>
        <p:cNvGrpSpPr/>
        <p:nvPr/>
      </p:nvGrpSpPr>
      <p:grpSpPr>
        <a:xfrm>
          <a:off x="0" y="0"/>
          <a:ext cx="0" cy="0"/>
          <a:chOff x="0" y="0"/>
          <a:chExt cx="0" cy="0"/>
        </a:xfrm>
      </p:grpSpPr>
      <p:grpSp>
        <p:nvGrpSpPr>
          <p:cNvPr id="85" name="Google Shape;85;p10"/>
          <p:cNvGrpSpPr/>
          <p:nvPr/>
        </p:nvGrpSpPr>
        <p:grpSpPr>
          <a:xfrm>
            <a:off x="830392" y="4169130"/>
            <a:ext cx="745763" cy="45826"/>
            <a:chOff x="4580561" y="2589004"/>
            <a:chExt cx="1064464" cy="25200"/>
          </a:xfrm>
        </p:grpSpPr>
        <p:sp>
          <p:nvSpPr>
            <p:cNvPr id="86" name="Google Shape;86;p1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10"/>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a:endParaRPr/>
          </a:p>
        </p:txBody>
      </p:sp>
      <p:sp>
        <p:nvSpPr>
          <p:cNvPr id="89" name="Google Shape;89;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0"/>
        <p:cNvGrpSpPr/>
        <p:nvPr/>
      </p:nvGrpSpPr>
      <p:grpSpPr>
        <a:xfrm>
          <a:off x="0" y="0"/>
          <a:ext cx="0" cy="0"/>
          <a:chOff x="0" y="0"/>
          <a:chExt cx="0" cy="0"/>
        </a:xfrm>
      </p:grpSpPr>
      <p:sp>
        <p:nvSpPr>
          <p:cNvPr id="91" name="Google Shape;91;p11"/>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11"/>
          <p:cNvGrpSpPr/>
          <p:nvPr/>
        </p:nvGrpSpPr>
        <p:grpSpPr>
          <a:xfrm>
            <a:off x="830392" y="1191256"/>
            <a:ext cx="745763" cy="45826"/>
            <a:chOff x="4580561" y="2589004"/>
            <a:chExt cx="1064464" cy="25200"/>
          </a:xfrm>
        </p:grpSpPr>
        <p:sp>
          <p:nvSpPr>
            <p:cNvPr id="93" name="Google Shape;93;p1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11"/>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96" name="Google Shape;96;p11"/>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97" name="Google Shape;97;p11"/>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
    <p:spTree>
      <p:nvGrpSpPr>
        <p:cNvPr id="1" name="Shape 99"/>
        <p:cNvGrpSpPr/>
        <p:nvPr/>
      </p:nvGrpSpPr>
      <p:grpSpPr>
        <a:xfrm>
          <a:off x="0" y="0"/>
          <a:ext cx="0" cy="0"/>
          <a:chOff x="0" y="0"/>
          <a:chExt cx="0" cy="0"/>
        </a:xfrm>
      </p:grpSpPr>
      <p:pic>
        <p:nvPicPr>
          <p:cNvPr id="100" name="Google Shape;100;p12" descr="Side view of hands writing in a notebook at a cafe"/>
          <p:cNvPicPr preferRelativeResize="0"/>
          <p:nvPr/>
        </p:nvPicPr>
        <p:blipFill rotWithShape="1">
          <a:blip r:embed="rId2">
            <a:alphaModFix/>
          </a:blip>
          <a:srcRect l="9051" t="12064" r="54351" b="26447"/>
          <a:stretch/>
        </p:blipFill>
        <p:spPr>
          <a:xfrm>
            <a:off x="1" y="-50"/>
            <a:ext cx="4572000" cy="5143501"/>
          </a:xfrm>
          <a:prstGeom prst="rect">
            <a:avLst/>
          </a:prstGeom>
          <a:noFill/>
          <a:ln>
            <a:noFill/>
          </a:ln>
        </p:spPr>
      </p:pic>
      <p:sp>
        <p:nvSpPr>
          <p:cNvPr id="101" name="Google Shape;101;p12"/>
          <p:cNvSpPr/>
          <p:nvPr/>
        </p:nvSpPr>
        <p:spPr>
          <a:xfrm>
            <a:off x="1650" y="0"/>
            <a:ext cx="4568700" cy="5143500"/>
          </a:xfrm>
          <a:prstGeom prst="rect">
            <a:avLst/>
          </a:prstGeom>
          <a:solidFill>
            <a:srgbClr val="178D7D">
              <a:alpha val="6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 name="Google Shape;102;p12"/>
          <p:cNvGrpSpPr/>
          <p:nvPr/>
        </p:nvGrpSpPr>
        <p:grpSpPr>
          <a:xfrm>
            <a:off x="830392" y="1191256"/>
            <a:ext cx="745763" cy="45826"/>
            <a:chOff x="4580561" y="2589004"/>
            <a:chExt cx="1064464" cy="25200"/>
          </a:xfrm>
        </p:grpSpPr>
        <p:sp>
          <p:nvSpPr>
            <p:cNvPr id="103" name="Google Shape;103;p12"/>
            <p:cNvSpPr/>
            <p:nvPr/>
          </p:nvSpPr>
          <p:spPr>
            <a:xfrm rot="-5400000">
              <a:off x="5366325" y="2335504"/>
              <a:ext cx="25200" cy="532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2"/>
            <p:cNvSpPr/>
            <p:nvPr/>
          </p:nvSpPr>
          <p:spPr>
            <a:xfrm rot="-5400000">
              <a:off x="4836311" y="2333254"/>
              <a:ext cx="25200" cy="536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12"/>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
        <p:nvSpPr>
          <p:cNvPr id="106" name="Google Shape;106;p12"/>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a:endParaRPr/>
          </a:p>
        </p:txBody>
      </p:sp>
      <p:sp>
        <p:nvSpPr>
          <p:cNvPr id="107" name="Google Shape;107;p12"/>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8" name="Google Shape;108;p12"/>
          <p:cNvSpPr txBox="1">
            <a:spLocks noGrp="1"/>
          </p:cNvSpPr>
          <p:nvPr>
            <p:ph type="sldNum" idx="12"/>
          </p:nvPr>
        </p:nvSpPr>
        <p:spPr>
          <a:xfrm>
            <a:off x="8536300" y="4749850"/>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1 2">
  <p:cSld name="SECTION_TITLE_AND_DESCRIPTION_1_2">
    <p:spTree>
      <p:nvGrpSpPr>
        <p:cNvPr id="1" name="Shape 109"/>
        <p:cNvGrpSpPr/>
        <p:nvPr/>
      </p:nvGrpSpPr>
      <p:grpSpPr>
        <a:xfrm>
          <a:off x="0" y="0"/>
          <a:ext cx="0" cy="0"/>
          <a:chOff x="0" y="0"/>
          <a:chExt cx="0" cy="0"/>
        </a:xfrm>
      </p:grpSpPr>
      <p:pic>
        <p:nvPicPr>
          <p:cNvPr id="110" name="Google Shape;110;p13"/>
          <p:cNvPicPr preferRelativeResize="0"/>
          <p:nvPr/>
        </p:nvPicPr>
        <p:blipFill rotWithShape="1">
          <a:blip r:embed="rId2">
            <a:alphaModFix/>
          </a:blip>
          <a:srcRect l="31883" t="8097" r="25713"/>
          <a:stretch/>
        </p:blipFill>
        <p:spPr>
          <a:xfrm>
            <a:off x="0" y="0"/>
            <a:ext cx="4575250" cy="5143500"/>
          </a:xfrm>
          <a:prstGeom prst="rect">
            <a:avLst/>
          </a:prstGeom>
          <a:noFill/>
          <a:ln>
            <a:noFill/>
          </a:ln>
        </p:spPr>
      </p:pic>
      <p:sp>
        <p:nvSpPr>
          <p:cNvPr id="111" name="Google Shape;111;p13"/>
          <p:cNvSpPr/>
          <p:nvPr/>
        </p:nvSpPr>
        <p:spPr>
          <a:xfrm>
            <a:off x="-75" y="0"/>
            <a:ext cx="4572000" cy="5143500"/>
          </a:xfrm>
          <a:prstGeom prst="rect">
            <a:avLst/>
          </a:prstGeom>
          <a:solidFill>
            <a:srgbClr val="178D7D">
              <a:alpha val="68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 name="Google Shape;112;p13"/>
          <p:cNvGrpSpPr/>
          <p:nvPr/>
        </p:nvGrpSpPr>
        <p:grpSpPr>
          <a:xfrm>
            <a:off x="830392" y="1191256"/>
            <a:ext cx="745763" cy="45826"/>
            <a:chOff x="4580561" y="2589004"/>
            <a:chExt cx="1064464" cy="25200"/>
          </a:xfrm>
        </p:grpSpPr>
        <p:sp>
          <p:nvSpPr>
            <p:cNvPr id="113" name="Google Shape;113;p13"/>
            <p:cNvSpPr/>
            <p:nvPr/>
          </p:nvSpPr>
          <p:spPr>
            <a:xfrm rot="-5400000">
              <a:off x="5366325" y="2335504"/>
              <a:ext cx="25200" cy="532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p:nvPr/>
          </p:nvSpPr>
          <p:spPr>
            <a:xfrm rot="-5400000">
              <a:off x="4836311" y="2333254"/>
              <a:ext cx="25200" cy="536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13"/>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
        <p:nvSpPr>
          <p:cNvPr id="116" name="Google Shape;116;p13"/>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a:endParaRPr/>
          </a:p>
        </p:txBody>
      </p:sp>
      <p:sp>
        <p:nvSpPr>
          <p:cNvPr id="117" name="Google Shape;117;p13"/>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8" name="Google Shape;118;p1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9"/>
        <p:cNvGrpSpPr/>
        <p:nvPr/>
      </p:nvGrpSpPr>
      <p:grpSpPr>
        <a:xfrm>
          <a:off x="0" y="0"/>
          <a:ext cx="0" cy="0"/>
          <a:chOff x="0" y="0"/>
          <a:chExt cx="0" cy="0"/>
        </a:xfrm>
      </p:grpSpPr>
      <p:sp>
        <p:nvSpPr>
          <p:cNvPr id="120" name="Google Shape;120;p14"/>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21" name="Google Shape;121;p1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22"/>
        <p:cNvGrpSpPr/>
        <p:nvPr/>
      </p:nvGrpSpPr>
      <p:grpSpPr>
        <a:xfrm>
          <a:off x="0" y="0"/>
          <a:ext cx="0" cy="0"/>
          <a:chOff x="0" y="0"/>
          <a:chExt cx="0" cy="0"/>
        </a:xfrm>
      </p:grpSpPr>
      <p:grpSp>
        <p:nvGrpSpPr>
          <p:cNvPr id="123" name="Google Shape;123;p15"/>
          <p:cNvGrpSpPr/>
          <p:nvPr/>
        </p:nvGrpSpPr>
        <p:grpSpPr>
          <a:xfrm>
            <a:off x="830392" y="4169130"/>
            <a:ext cx="745763" cy="45826"/>
            <a:chOff x="4580561" y="2589004"/>
            <a:chExt cx="1064464" cy="25200"/>
          </a:xfrm>
        </p:grpSpPr>
        <p:sp>
          <p:nvSpPr>
            <p:cNvPr id="124" name="Google Shape;124;p15"/>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 name="Google Shape;126;p15"/>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27" name="Google Shape;127;p15"/>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128" name="Google Shape;128;p1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9"/>
        <p:cNvGrpSpPr/>
        <p:nvPr/>
      </p:nvGrpSpPr>
      <p:grpSpPr>
        <a:xfrm>
          <a:off x="0" y="0"/>
          <a:ext cx="0" cy="0"/>
          <a:chOff x="0" y="0"/>
          <a:chExt cx="0" cy="0"/>
        </a:xfrm>
      </p:grpSpPr>
      <p:sp>
        <p:nvSpPr>
          <p:cNvPr id="130" name="Google Shape;130;p1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g3e7367c0da3_20_0)">
  <p:cSld name="Title and body (g3e7367c0da3_20_0)">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a:endParaRPr/>
          </a:p>
        </p:txBody>
      </p:sp>
      <p:sp>
        <p:nvSpPr>
          <p:cNvPr id="133" name="Google Shape;133;p1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34" name="Google Shape;134;p1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sym typeface="Raleway"/>
              </a:defRPr>
            </a:lvl1pPr>
            <a:lvl2pPr lvl="1">
              <a:spcBef>
                <a:spcPts val="0"/>
              </a:spcBef>
              <a:spcAft>
                <a:spcPts val="0"/>
              </a:spcAft>
              <a:buSzPts val="2800"/>
              <a:buFont typeface="Raleway"/>
              <a:buNone/>
              <a:defRPr sz="2800" b="1">
                <a:latin typeface="Raleway"/>
                <a:ea typeface="Raleway"/>
                <a:cs typeface="Raleway"/>
                <a:sym typeface="Raleway"/>
              </a:defRPr>
            </a:lvl2pPr>
            <a:lvl3pPr lvl="2">
              <a:spcBef>
                <a:spcPts val="0"/>
              </a:spcBef>
              <a:spcAft>
                <a:spcPts val="0"/>
              </a:spcAft>
              <a:buSzPts val="2800"/>
              <a:buFont typeface="Raleway"/>
              <a:buNone/>
              <a:defRPr sz="2800" b="1">
                <a:latin typeface="Raleway"/>
                <a:ea typeface="Raleway"/>
                <a:cs typeface="Raleway"/>
                <a:sym typeface="Raleway"/>
              </a:defRPr>
            </a:lvl3pPr>
            <a:lvl4pPr lvl="3">
              <a:spcBef>
                <a:spcPts val="0"/>
              </a:spcBef>
              <a:spcAft>
                <a:spcPts val="0"/>
              </a:spcAft>
              <a:buSzPts val="2800"/>
              <a:buFont typeface="Raleway"/>
              <a:buNone/>
              <a:defRPr sz="2800" b="1">
                <a:latin typeface="Raleway"/>
                <a:ea typeface="Raleway"/>
                <a:cs typeface="Raleway"/>
                <a:sym typeface="Raleway"/>
              </a:defRPr>
            </a:lvl4pPr>
            <a:lvl5pPr lvl="4">
              <a:spcBef>
                <a:spcPts val="0"/>
              </a:spcBef>
              <a:spcAft>
                <a:spcPts val="0"/>
              </a:spcAft>
              <a:buSzPts val="2800"/>
              <a:buFont typeface="Raleway"/>
              <a:buNone/>
              <a:defRPr sz="2800" b="1">
                <a:latin typeface="Raleway"/>
                <a:ea typeface="Raleway"/>
                <a:cs typeface="Raleway"/>
                <a:sym typeface="Raleway"/>
              </a:defRPr>
            </a:lvl5pPr>
            <a:lvl6pPr lvl="5">
              <a:spcBef>
                <a:spcPts val="0"/>
              </a:spcBef>
              <a:spcAft>
                <a:spcPts val="0"/>
              </a:spcAft>
              <a:buSzPts val="2800"/>
              <a:buFont typeface="Raleway"/>
              <a:buNone/>
              <a:defRPr sz="2800" b="1">
                <a:latin typeface="Raleway"/>
                <a:ea typeface="Raleway"/>
                <a:cs typeface="Raleway"/>
                <a:sym typeface="Raleway"/>
              </a:defRPr>
            </a:lvl6pPr>
            <a:lvl7pPr lvl="6">
              <a:spcBef>
                <a:spcPts val="0"/>
              </a:spcBef>
              <a:spcAft>
                <a:spcPts val="0"/>
              </a:spcAft>
              <a:buSzPts val="2800"/>
              <a:buFont typeface="Raleway"/>
              <a:buNone/>
              <a:defRPr sz="2800" b="1">
                <a:latin typeface="Raleway"/>
                <a:ea typeface="Raleway"/>
                <a:cs typeface="Raleway"/>
                <a:sym typeface="Raleway"/>
              </a:defRPr>
            </a:lvl7pPr>
            <a:lvl8pPr lvl="7">
              <a:spcBef>
                <a:spcPts val="0"/>
              </a:spcBef>
              <a:spcAft>
                <a:spcPts val="0"/>
              </a:spcAft>
              <a:buSzPts val="2800"/>
              <a:buFont typeface="Raleway"/>
              <a:buNone/>
              <a:defRPr sz="2800" b="1">
                <a:latin typeface="Raleway"/>
                <a:ea typeface="Raleway"/>
                <a:cs typeface="Raleway"/>
                <a:sym typeface="Raleway"/>
              </a:defRPr>
            </a:lvl8pPr>
            <a:lvl9pPr lvl="8">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0me3guauqOU" TargetMode="External"/><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8"/>
          <p:cNvSpPr txBox="1">
            <a:spLocks noGrp="1"/>
          </p:cNvSpPr>
          <p:nvPr>
            <p:ph type="ctrTitle"/>
          </p:nvPr>
        </p:nvSpPr>
        <p:spPr>
          <a:xfrm>
            <a:off x="729450" y="1322450"/>
            <a:ext cx="5676600" cy="144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JPEG Compression in OpenCV</a:t>
            </a:r>
            <a:endParaRPr/>
          </a:p>
        </p:txBody>
      </p:sp>
      <p:sp>
        <p:nvSpPr>
          <p:cNvPr id="140" name="Google Shape;140;p18"/>
          <p:cNvSpPr txBox="1">
            <a:spLocks noGrp="1"/>
          </p:cNvSpPr>
          <p:nvPr>
            <p:ph type="subTitle" idx="1"/>
          </p:nvPr>
        </p:nvSpPr>
        <p:spPr>
          <a:xfrm>
            <a:off x="729600" y="2921750"/>
            <a:ext cx="4438200" cy="132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implementation of the JPEG compression algorithm in OpenCV using Discrete Cosine Transform (DCT) and without Huffman encoding</a:t>
            </a:r>
            <a:endParaRPr/>
          </a:p>
        </p:txBody>
      </p:sp>
      <p:pic>
        <p:nvPicPr>
          <p:cNvPr id="141" name="Google Shape;141;p18"/>
          <p:cNvPicPr preferRelativeResize="0"/>
          <p:nvPr/>
        </p:nvPicPr>
        <p:blipFill>
          <a:blip r:embed="rId3">
            <a:alphaModFix/>
          </a:blip>
          <a:stretch>
            <a:fillRect/>
          </a:stretch>
        </p:blipFill>
        <p:spPr>
          <a:xfrm>
            <a:off x="6518625" y="1503200"/>
            <a:ext cx="2433149" cy="30743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9"/>
          <p:cNvSpPr txBox="1">
            <a:spLocks noGrp="1"/>
          </p:cNvSpPr>
          <p:nvPr>
            <p:ph type="body" idx="1"/>
          </p:nvPr>
        </p:nvSpPr>
        <p:spPr>
          <a:xfrm>
            <a:off x="729450" y="2078875"/>
            <a:ext cx="5360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JPEG (Joint Photographic Experts Group) is a commonly used method of lossy compression for digital images, particularly for those images produced by digital photography.</a:t>
            </a:r>
            <a:endParaRPr/>
          </a:p>
          <a:p>
            <a:pPr marL="0" lvl="0" indent="0" algn="l" rtl="0">
              <a:spcBef>
                <a:spcPts val="1000"/>
              </a:spcBef>
              <a:spcAft>
                <a:spcPts val="1000"/>
              </a:spcAft>
              <a:buNone/>
            </a:pPr>
            <a:r>
              <a:rPr lang="en"/>
              <a:t>The main idea behind JPEG is to reduce image size by removing information that is less noticeable to the human eye. Instead of storing the image only as raw pixel values, JPEG transforms the image into frequency information, reduces less important details, and stores the remaining data more efficiently.</a:t>
            </a:r>
            <a:endParaRPr/>
          </a:p>
        </p:txBody>
      </p:sp>
      <p:sp>
        <p:nvSpPr>
          <p:cNvPr id="147" name="Google Shape;147;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sz="3000"/>
          </a:p>
        </p:txBody>
      </p:sp>
      <p:pic>
        <p:nvPicPr>
          <p:cNvPr id="148" name="Google Shape;148;p19"/>
          <p:cNvPicPr preferRelativeResize="0"/>
          <p:nvPr/>
        </p:nvPicPr>
        <p:blipFill>
          <a:blip r:embed="rId3">
            <a:alphaModFix/>
          </a:blip>
          <a:stretch>
            <a:fillRect/>
          </a:stretch>
        </p:blipFill>
        <p:spPr>
          <a:xfrm>
            <a:off x="6192054" y="1254450"/>
            <a:ext cx="2712374" cy="3135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JPEG Works</a:t>
            </a:r>
            <a:endParaRPr sz="3000"/>
          </a:p>
        </p:txBody>
      </p:sp>
      <p:pic>
        <p:nvPicPr>
          <p:cNvPr id="154" name="Google Shape;154;p20"/>
          <p:cNvPicPr preferRelativeResize="0"/>
          <p:nvPr/>
        </p:nvPicPr>
        <p:blipFill>
          <a:blip r:embed="rId3">
            <a:alphaModFix/>
          </a:blip>
          <a:stretch>
            <a:fillRect/>
          </a:stretch>
        </p:blipFill>
        <p:spPr>
          <a:xfrm>
            <a:off x="4077950" y="1733675"/>
            <a:ext cx="4425100" cy="3007400"/>
          </a:xfrm>
          <a:prstGeom prst="rect">
            <a:avLst/>
          </a:prstGeom>
          <a:noFill/>
          <a:ln>
            <a:noFill/>
          </a:ln>
        </p:spPr>
      </p:pic>
      <p:sp>
        <p:nvSpPr>
          <p:cNvPr id="155" name="Google Shape;155;p20"/>
          <p:cNvSpPr txBox="1"/>
          <p:nvPr/>
        </p:nvSpPr>
        <p:spPr>
          <a:xfrm>
            <a:off x="729450" y="2040300"/>
            <a:ext cx="3265200" cy="28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Lato"/>
                <a:ea typeface="Lato"/>
                <a:cs typeface="Lato"/>
                <a:sym typeface="Lato"/>
              </a:rPr>
              <a:t>JPEG works by processing the image into 8x8 blocks, and then each block goes through a DCT-based encoder.</a:t>
            </a:r>
            <a:endParaRPr sz="1300">
              <a:solidFill>
                <a:schemeClr val="accent1"/>
              </a:solidFill>
              <a:latin typeface="Lato"/>
              <a:ea typeface="Lato"/>
              <a:cs typeface="Lato"/>
              <a:sym typeface="Lato"/>
            </a:endParaRPr>
          </a:p>
          <a:p>
            <a:pPr marL="0" lvl="0" indent="0" algn="l" rtl="0">
              <a:spcBef>
                <a:spcPts val="0"/>
              </a:spcBef>
              <a:spcAft>
                <a:spcPts val="0"/>
              </a:spcAft>
              <a:buNone/>
            </a:pPr>
            <a:endParaRPr sz="1300">
              <a:solidFill>
                <a:schemeClr val="accent1"/>
              </a:solidFill>
              <a:latin typeface="Lato"/>
              <a:ea typeface="Lato"/>
              <a:cs typeface="Lato"/>
              <a:sym typeface="Lato"/>
            </a:endParaRPr>
          </a:p>
          <a:p>
            <a:pPr marL="0" lvl="0" indent="0" algn="l" rtl="0">
              <a:spcBef>
                <a:spcPts val="0"/>
              </a:spcBef>
              <a:spcAft>
                <a:spcPts val="0"/>
              </a:spcAft>
              <a:buNone/>
            </a:pPr>
            <a:r>
              <a:rPr lang="en" sz="1300">
                <a:solidFill>
                  <a:schemeClr val="accent1"/>
                </a:solidFill>
                <a:latin typeface="Lato"/>
                <a:ea typeface="Lato"/>
                <a:cs typeface="Lato"/>
                <a:sym typeface="Lato"/>
              </a:rPr>
              <a:t>In this project, entropy encoding is simplified by using zigzag scanning + run-length encoding, without Huffman encoding.</a:t>
            </a:r>
            <a:endParaRPr sz="130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1"/>
          <p:cNvSpPr txBox="1">
            <a:spLocks noGrp="1"/>
          </p:cNvSpPr>
          <p:nvPr>
            <p:ph type="body" idx="1"/>
          </p:nvPr>
        </p:nvSpPr>
        <p:spPr>
          <a:xfrm>
            <a:off x="729450" y="2078875"/>
            <a:ext cx="5360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Since our eyes are more sensitive to brightness than color, JPEG uses the YCbCr color space.</a:t>
            </a:r>
            <a:endParaRPr/>
          </a:p>
          <a:p>
            <a:pPr marL="0" lvl="0" indent="0" algn="l" rtl="0">
              <a:spcBef>
                <a:spcPts val="1000"/>
              </a:spcBef>
              <a:spcAft>
                <a:spcPts val="0"/>
              </a:spcAft>
              <a:buNone/>
            </a:pPr>
            <a:r>
              <a:rPr lang="en"/>
              <a:t>The image is converted from BGR to YCrCb:</a:t>
            </a:r>
            <a:endParaRPr/>
          </a:p>
          <a:p>
            <a:pPr marL="457200" lvl="0" indent="-311150" algn="l" rtl="0">
              <a:spcBef>
                <a:spcPts val="1000"/>
              </a:spcBef>
              <a:spcAft>
                <a:spcPts val="0"/>
              </a:spcAft>
              <a:buSzPts val="1300"/>
              <a:buChar char="-"/>
            </a:pPr>
            <a:r>
              <a:rPr lang="en"/>
              <a:t>Y  = luminance / brightness</a:t>
            </a:r>
            <a:endParaRPr/>
          </a:p>
          <a:p>
            <a:pPr marL="457200" lvl="0" indent="-311150" algn="l" rtl="0">
              <a:spcBef>
                <a:spcPts val="0"/>
              </a:spcBef>
              <a:spcAft>
                <a:spcPts val="0"/>
              </a:spcAft>
              <a:buSzPts val="1300"/>
              <a:buChar char="-"/>
            </a:pPr>
            <a:r>
              <a:rPr lang="en"/>
              <a:t>Cr = red chrominance</a:t>
            </a:r>
            <a:endParaRPr/>
          </a:p>
          <a:p>
            <a:pPr marL="457200" lvl="0" indent="-311150" algn="l" rtl="0">
              <a:spcBef>
                <a:spcPts val="0"/>
              </a:spcBef>
              <a:spcAft>
                <a:spcPts val="0"/>
              </a:spcAft>
              <a:buSzPts val="1300"/>
              <a:buChar char="-"/>
            </a:pPr>
            <a:r>
              <a:rPr lang="en"/>
              <a:t>Cb = blue chrominance</a:t>
            </a:r>
            <a:endParaRPr/>
          </a:p>
          <a:p>
            <a:pPr marL="0" lvl="0" indent="0" algn="l" rtl="0">
              <a:spcBef>
                <a:spcPts val="1000"/>
              </a:spcBef>
              <a:spcAft>
                <a:spcPts val="1000"/>
              </a:spcAft>
              <a:buNone/>
            </a:pPr>
            <a:r>
              <a:rPr lang="en"/>
              <a:t>After conversion, the image is split into 3 channels (Y, Cr, Cb).</a:t>
            </a:r>
            <a:endParaRPr/>
          </a:p>
        </p:txBody>
      </p:sp>
      <p:sp>
        <p:nvSpPr>
          <p:cNvPr id="161" name="Google Shape;161;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Color Space</a:t>
            </a:r>
            <a:endParaRPr sz="3000"/>
          </a:p>
        </p:txBody>
      </p:sp>
      <p:pic>
        <p:nvPicPr>
          <p:cNvPr id="162" name="Google Shape;162;p21"/>
          <p:cNvPicPr preferRelativeResize="0"/>
          <p:nvPr/>
        </p:nvPicPr>
        <p:blipFill>
          <a:blip r:embed="rId3">
            <a:alphaModFix/>
          </a:blip>
          <a:stretch>
            <a:fillRect/>
          </a:stretch>
        </p:blipFill>
        <p:spPr>
          <a:xfrm>
            <a:off x="6311825" y="1853850"/>
            <a:ext cx="2286000" cy="2286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2"/>
          <p:cNvSpPr txBox="1">
            <a:spLocks noGrp="1"/>
          </p:cNvSpPr>
          <p:nvPr>
            <p:ph type="body" idx="1"/>
          </p:nvPr>
        </p:nvSpPr>
        <p:spPr>
          <a:xfrm>
            <a:off x="729450" y="2078875"/>
            <a:ext cx="33000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After the image is converted to YCrCb and split into Y, Cr, and Cb, each channel is divided into 8×8 blocks.</a:t>
            </a:r>
            <a:endParaRPr/>
          </a:p>
          <a:p>
            <a:pPr marL="0" lvl="0" indent="0" algn="l" rtl="0">
              <a:spcBef>
                <a:spcPts val="1000"/>
              </a:spcBef>
              <a:spcAft>
                <a:spcPts val="0"/>
              </a:spcAft>
              <a:buNone/>
            </a:pPr>
            <a:r>
              <a:rPr lang="en"/>
              <a:t>JPEG processes the image block by block because the next step, DCT, is applied on small 8×8 matrices.</a:t>
            </a:r>
            <a:endParaRPr/>
          </a:p>
          <a:p>
            <a:pPr marL="0" lvl="0" indent="0" algn="l" rtl="0">
              <a:spcBef>
                <a:spcPts val="1000"/>
              </a:spcBef>
              <a:spcAft>
                <a:spcPts val="1000"/>
              </a:spcAft>
              <a:buNone/>
            </a:pPr>
            <a:r>
              <a:rPr lang="en"/>
              <a:t>If the image size is not divisible by 8, padding is added.</a:t>
            </a:r>
            <a:endParaRPr/>
          </a:p>
        </p:txBody>
      </p:sp>
      <p:sp>
        <p:nvSpPr>
          <p:cNvPr id="168" name="Google Shape;168;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Block Splitting</a:t>
            </a:r>
            <a:endParaRPr sz="3000"/>
          </a:p>
        </p:txBody>
      </p:sp>
      <p:pic>
        <p:nvPicPr>
          <p:cNvPr id="169" name="Google Shape;169;p22"/>
          <p:cNvPicPr preferRelativeResize="0"/>
          <p:nvPr/>
        </p:nvPicPr>
        <p:blipFill>
          <a:blip r:embed="rId3">
            <a:alphaModFix/>
          </a:blip>
          <a:stretch>
            <a:fillRect/>
          </a:stretch>
        </p:blipFill>
        <p:spPr>
          <a:xfrm>
            <a:off x="4150600" y="1680950"/>
            <a:ext cx="4924125" cy="2763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3"/>
          <p:cNvSpPr txBox="1">
            <a:spLocks noGrp="1"/>
          </p:cNvSpPr>
          <p:nvPr>
            <p:ph type="body" idx="1"/>
          </p:nvPr>
        </p:nvSpPr>
        <p:spPr>
          <a:xfrm>
            <a:off x="729450" y="1966300"/>
            <a:ext cx="3897300" cy="294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main ideea of JPEG is to vizualize the image as a signal. The DCT takes each 8x8 block and converts it from spatial domain to frequency domain. This means, we now works with frequency coefficients.</a:t>
            </a:r>
            <a:endParaRPr/>
          </a:p>
          <a:p>
            <a:pPr marL="0" lvl="0" indent="0" algn="l" rtl="0">
              <a:spcBef>
                <a:spcPts val="1000"/>
              </a:spcBef>
              <a:spcAft>
                <a:spcPts val="1000"/>
              </a:spcAft>
              <a:buNone/>
            </a:pPr>
            <a:r>
              <a:rPr lang="en"/>
              <a:t>The main idea is that the human eye is more sensitive to low-frequency information, such as general shapes and brightness, and less sensitive to high-frequency details. JPEG uses this by keeping the low-frequency coefficients more accurately and reducing the high-frequency coefficients later during quantization.</a:t>
            </a:r>
            <a:endParaRPr/>
          </a:p>
        </p:txBody>
      </p:sp>
      <p:sp>
        <p:nvSpPr>
          <p:cNvPr id="175" name="Google Shape;175;p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Discrete Cosine Transform (DCT)</a:t>
            </a:r>
            <a:endParaRPr sz="3000"/>
          </a:p>
        </p:txBody>
      </p:sp>
      <p:pic>
        <p:nvPicPr>
          <p:cNvPr id="176" name="Google Shape;176;p23"/>
          <p:cNvPicPr preferRelativeResize="0"/>
          <p:nvPr/>
        </p:nvPicPr>
        <p:blipFill>
          <a:blip r:embed="rId3">
            <a:alphaModFix/>
          </a:blip>
          <a:stretch>
            <a:fillRect/>
          </a:stretch>
        </p:blipFill>
        <p:spPr>
          <a:xfrm>
            <a:off x="4680800" y="2239852"/>
            <a:ext cx="4281301" cy="22997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4"/>
          <p:cNvSpPr txBox="1">
            <a:spLocks noGrp="1"/>
          </p:cNvSpPr>
          <p:nvPr>
            <p:ph type="body" idx="1"/>
          </p:nvPr>
        </p:nvSpPr>
        <p:spPr>
          <a:xfrm>
            <a:off x="729450" y="1966300"/>
            <a:ext cx="3897300" cy="294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At the input to the encoder, source image samples are grouped into 8x8 blocks, shifted from unsigned integers with range [0, 2</a:t>
            </a:r>
            <a:r>
              <a:rPr lang="en" baseline="30000"/>
              <a:t>P</a:t>
            </a:r>
            <a:r>
              <a:rPr lang="en"/>
              <a:t>- 1] to signed integers with range [-2</a:t>
            </a:r>
            <a:r>
              <a:rPr lang="en" baseline="30000"/>
              <a:t>P-1</a:t>
            </a:r>
            <a:r>
              <a:rPr lang="en"/>
              <a:t>, 2</a:t>
            </a:r>
            <a:r>
              <a:rPr lang="en" baseline="30000"/>
              <a:t>P-1</a:t>
            </a:r>
            <a:r>
              <a:rPr lang="en"/>
              <a:t>-1], and input to the Forward DCT (FDCT).</a:t>
            </a:r>
            <a:endParaRPr/>
          </a:p>
          <a:p>
            <a:pPr marL="0" lvl="0" indent="0" algn="l" rtl="0">
              <a:spcBef>
                <a:spcPts val="1000"/>
              </a:spcBef>
              <a:spcAft>
                <a:spcPts val="1000"/>
              </a:spcAft>
              <a:buNone/>
            </a:pPr>
            <a:r>
              <a:rPr lang="en"/>
              <a:t>At the output from the decoder, the Inverse DCT (IDCT) outputs 8x8 sample blocks to form the reconstructed image.</a:t>
            </a:r>
            <a:endParaRPr/>
          </a:p>
        </p:txBody>
      </p:sp>
      <p:sp>
        <p:nvSpPr>
          <p:cNvPr id="182" name="Google Shape;182;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8x8 FDCT and IDCT</a:t>
            </a:r>
            <a:endParaRPr sz="3000"/>
          </a:p>
        </p:txBody>
      </p:sp>
      <p:pic>
        <p:nvPicPr>
          <p:cNvPr id="183" name="Google Shape;183;p24"/>
          <p:cNvPicPr preferRelativeResize="0"/>
          <p:nvPr/>
        </p:nvPicPr>
        <p:blipFill>
          <a:blip r:embed="rId3">
            <a:alphaModFix/>
          </a:blip>
          <a:stretch>
            <a:fillRect/>
          </a:stretch>
        </p:blipFill>
        <p:spPr>
          <a:xfrm>
            <a:off x="5005400" y="1788950"/>
            <a:ext cx="3298327" cy="2984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5"/>
          <p:cNvSpPr txBox="1">
            <a:spLocks noGrp="1"/>
          </p:cNvSpPr>
          <p:nvPr>
            <p:ph type="body" idx="1"/>
          </p:nvPr>
        </p:nvSpPr>
        <p:spPr>
          <a:xfrm>
            <a:off x="729450" y="1966300"/>
            <a:ext cx="3897300" cy="294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actually throw away data through the Quantization step. We obtain the Quantization by dividing transformed image DCT matrix by the quantization matrix used . Values of the resultant matrix are then rounded off.</a:t>
            </a:r>
            <a:endParaRPr/>
          </a:p>
          <a:p>
            <a:pPr marL="0" lvl="0" indent="0" algn="l" rtl="0">
              <a:spcBef>
                <a:spcPts val="1000"/>
              </a:spcBef>
              <a:spcAft>
                <a:spcPts val="1000"/>
              </a:spcAft>
              <a:buNone/>
            </a:pPr>
            <a:r>
              <a:rPr lang="en"/>
              <a:t>Quantization aims at reducing most of the less important high frequency DCT coefficients to zero, the more zeros the better the image will compress.</a:t>
            </a:r>
            <a:endParaRPr/>
          </a:p>
        </p:txBody>
      </p:sp>
      <p:sp>
        <p:nvSpPr>
          <p:cNvPr id="189" name="Google Shape;189;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Quantization</a:t>
            </a:r>
            <a:endParaRPr sz="3000"/>
          </a:p>
        </p:txBody>
      </p:sp>
      <p:pic>
        <p:nvPicPr>
          <p:cNvPr id="190" name="Google Shape;190;p25"/>
          <p:cNvPicPr preferRelativeResize="0"/>
          <p:nvPr/>
        </p:nvPicPr>
        <p:blipFill>
          <a:blip r:embed="rId3">
            <a:alphaModFix/>
          </a:blip>
          <a:stretch>
            <a:fillRect/>
          </a:stretch>
        </p:blipFill>
        <p:spPr>
          <a:xfrm>
            <a:off x="5747650" y="1002000"/>
            <a:ext cx="2650800" cy="703975"/>
          </a:xfrm>
          <a:prstGeom prst="rect">
            <a:avLst/>
          </a:prstGeom>
          <a:noFill/>
          <a:ln>
            <a:noFill/>
          </a:ln>
        </p:spPr>
      </p:pic>
      <p:pic>
        <p:nvPicPr>
          <p:cNvPr id="191" name="Google Shape;191;p25"/>
          <p:cNvPicPr preferRelativeResize="0"/>
          <p:nvPr/>
        </p:nvPicPr>
        <p:blipFill>
          <a:blip r:embed="rId4">
            <a:alphaModFix/>
          </a:blip>
          <a:stretch>
            <a:fillRect/>
          </a:stretch>
        </p:blipFill>
        <p:spPr>
          <a:xfrm>
            <a:off x="5478825" y="1742525"/>
            <a:ext cx="3188450" cy="606175"/>
          </a:xfrm>
          <a:prstGeom prst="rect">
            <a:avLst/>
          </a:prstGeom>
          <a:noFill/>
          <a:ln>
            <a:noFill/>
          </a:ln>
        </p:spPr>
      </p:pic>
      <p:pic>
        <p:nvPicPr>
          <p:cNvPr id="192" name="Google Shape;192;p25"/>
          <p:cNvPicPr preferRelativeResize="0"/>
          <p:nvPr/>
        </p:nvPicPr>
        <p:blipFill>
          <a:blip r:embed="rId5">
            <a:alphaModFix/>
          </a:blip>
          <a:stretch>
            <a:fillRect/>
          </a:stretch>
        </p:blipFill>
        <p:spPr>
          <a:xfrm>
            <a:off x="5869625" y="2450150"/>
            <a:ext cx="2161247" cy="249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6"/>
          <p:cNvSpPr txBox="1">
            <a:spLocks noGrp="1"/>
          </p:cNvSpPr>
          <p:nvPr>
            <p:ph type="body" idx="1"/>
          </p:nvPr>
        </p:nvSpPr>
        <p:spPr>
          <a:xfrm>
            <a:off x="729450" y="1966300"/>
            <a:ext cx="3897300" cy="29493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a:t>In the "zig-zag" sequence, firstly it encodes the coefficients with lower frequencies (typically with higher values) and then the higher frequencies (typically zero or almost zero). The result is an extended sequence of similar data bytes (sequences of zeros), permitting efficient entropy encoding.</a:t>
            </a:r>
            <a:endParaRPr/>
          </a:p>
        </p:txBody>
      </p:sp>
      <p:sp>
        <p:nvSpPr>
          <p:cNvPr id="198" name="Google Shape;198;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Zigzag Scanning</a:t>
            </a:r>
            <a:endParaRPr sz="3000"/>
          </a:p>
        </p:txBody>
      </p:sp>
      <p:pic>
        <p:nvPicPr>
          <p:cNvPr id="199" name="Google Shape;199;p26"/>
          <p:cNvPicPr preferRelativeResize="0"/>
          <p:nvPr/>
        </p:nvPicPr>
        <p:blipFill>
          <a:blip r:embed="rId3">
            <a:alphaModFix/>
          </a:blip>
          <a:stretch>
            <a:fillRect/>
          </a:stretch>
        </p:blipFill>
        <p:spPr>
          <a:xfrm>
            <a:off x="4892725" y="1560050"/>
            <a:ext cx="3669686" cy="2984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Run-length Encoding</a:t>
            </a:r>
            <a:endParaRPr sz="3000"/>
          </a:p>
        </p:txBody>
      </p:sp>
      <p:pic>
        <p:nvPicPr>
          <p:cNvPr id="205" name="Google Shape;205;p27"/>
          <p:cNvPicPr preferRelativeResize="0"/>
          <p:nvPr/>
        </p:nvPicPr>
        <p:blipFill>
          <a:blip r:embed="rId3">
            <a:alphaModFix/>
          </a:blip>
          <a:stretch>
            <a:fillRect/>
          </a:stretch>
        </p:blipFill>
        <p:spPr>
          <a:xfrm>
            <a:off x="5322700" y="1649275"/>
            <a:ext cx="2968113" cy="2984851"/>
          </a:xfrm>
          <a:prstGeom prst="rect">
            <a:avLst/>
          </a:prstGeom>
          <a:noFill/>
          <a:ln>
            <a:noFill/>
          </a:ln>
        </p:spPr>
      </p:pic>
      <p:pic>
        <p:nvPicPr>
          <p:cNvPr id="206" name="Google Shape;206;p27"/>
          <p:cNvPicPr preferRelativeResize="0"/>
          <p:nvPr/>
        </p:nvPicPr>
        <p:blipFill>
          <a:blip r:embed="rId4">
            <a:alphaModFix/>
          </a:blip>
          <a:stretch>
            <a:fillRect/>
          </a:stretch>
        </p:blipFill>
        <p:spPr>
          <a:xfrm>
            <a:off x="212725" y="2172150"/>
            <a:ext cx="5017900" cy="18023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2" name="Google Shape;212;p28"/>
          <p:cNvGrpSpPr/>
          <p:nvPr/>
        </p:nvGrpSpPr>
        <p:grpSpPr>
          <a:xfrm>
            <a:off x="830392" y="1191256"/>
            <a:ext cx="745763" cy="45826"/>
            <a:chOff x="4580561" y="2589004"/>
            <a:chExt cx="1064464" cy="25200"/>
          </a:xfrm>
        </p:grpSpPr>
        <p:sp>
          <p:nvSpPr>
            <p:cNvPr id="213" name="Google Shape;213;p2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5" name="Google Shape;215;p28"/>
          <p:cNvSpPr txBox="1">
            <a:spLocks noGrp="1"/>
          </p:cNvSpPr>
          <p:nvPr>
            <p:ph type="title"/>
          </p:nvPr>
        </p:nvSpPr>
        <p:spPr>
          <a:xfrm>
            <a:off x="729450" y="1238250"/>
            <a:ext cx="7688700" cy="535200"/>
          </a:xfrm>
          <a:prstGeom prst="rect">
            <a:avLst/>
          </a:prstGeom>
          <a:solidFill>
            <a:srgbClr val="000000">
              <a:alpha val="0"/>
            </a:srgbClr>
          </a:solidFill>
          <a:ln>
            <a:noFill/>
          </a:ln>
        </p:spPr>
        <p:txBody>
          <a:bodyPr spcFirstLastPara="1" wrap="square" lIns="91400" tIns="91400" rIns="91400" bIns="91400" anchor="t" anchorCtr="0">
            <a:noAutofit/>
          </a:bodyPr>
          <a:lstStyle/>
          <a:p>
            <a:pPr marL="0" lvl="0" indent="0" algn="l" rtl="0">
              <a:spcBef>
                <a:spcPts val="0"/>
              </a:spcBef>
              <a:spcAft>
                <a:spcPts val="0"/>
              </a:spcAft>
              <a:buNone/>
            </a:pPr>
            <a:r>
              <a:rPr lang="en" sz="3040" b="1">
                <a:solidFill>
                  <a:srgbClr val="1A1A1A"/>
                </a:solidFill>
                <a:latin typeface="Raleway"/>
                <a:ea typeface="Raleway"/>
                <a:cs typeface="Raleway"/>
                <a:sym typeface="Raleway"/>
              </a:rPr>
              <a:t>Saving the </a:t>
            </a:r>
            <a:r>
              <a:rPr lang="en" sz="3040">
                <a:solidFill>
                  <a:srgbClr val="1A1A1A"/>
                </a:solidFill>
                <a:latin typeface="Raleway"/>
                <a:ea typeface="Raleway"/>
                <a:cs typeface="Raleway"/>
                <a:sym typeface="Raleway"/>
              </a:rPr>
              <a:t>I</a:t>
            </a:r>
            <a:r>
              <a:rPr lang="en" sz="3040" b="1">
                <a:solidFill>
                  <a:srgbClr val="1A1A1A"/>
                </a:solidFill>
                <a:latin typeface="Raleway"/>
                <a:ea typeface="Raleway"/>
                <a:cs typeface="Raleway"/>
                <a:sym typeface="Raleway"/>
              </a:rPr>
              <a:t>mage</a:t>
            </a:r>
            <a:endParaRPr sz="3040" b="1">
              <a:solidFill>
                <a:srgbClr val="1A1A1A"/>
              </a:solidFill>
              <a:latin typeface="Raleway"/>
              <a:ea typeface="Raleway"/>
              <a:cs typeface="Raleway"/>
              <a:sym typeface="Raleway"/>
            </a:endParaRPr>
          </a:p>
        </p:txBody>
      </p:sp>
      <p:sp>
        <p:nvSpPr>
          <p:cNvPr id="216" name="Google Shape;216;p28"/>
          <p:cNvSpPr txBox="1"/>
          <p:nvPr/>
        </p:nvSpPr>
        <p:spPr>
          <a:xfrm>
            <a:off x="729450" y="1870425"/>
            <a:ext cx="3810000" cy="2286000"/>
          </a:xfrm>
          <a:prstGeom prst="rect">
            <a:avLst/>
          </a:prstGeom>
          <a:solidFill>
            <a:srgbClr val="000000">
              <a:alpha val="0"/>
            </a:srgbClr>
          </a:solidFill>
          <a:ln>
            <a:noFill/>
          </a:ln>
        </p:spPr>
        <p:txBody>
          <a:bodyPr spcFirstLastPara="1" wrap="square" lIns="91400" tIns="91400" rIns="91400" bIns="91400" anchor="t" anchorCtr="0">
            <a:noAutofit/>
          </a:bodyPr>
          <a:lstStyle/>
          <a:p>
            <a:pPr marL="0" lvl="0" indent="0" algn="l" rtl="0">
              <a:spcBef>
                <a:spcPts val="0"/>
              </a:spcBef>
              <a:spcAft>
                <a:spcPts val="0"/>
              </a:spcAft>
              <a:buNone/>
            </a:pPr>
            <a:r>
              <a:rPr lang="en" sz="1400" b="0">
                <a:solidFill>
                  <a:srgbClr val="595959"/>
                </a:solidFill>
                <a:latin typeface="Lato"/>
                <a:ea typeface="Lato"/>
                <a:cs typeface="Lato"/>
                <a:sym typeface="Lato"/>
              </a:rPr>
              <a:t>The image is saved on disk as a binary file (.bin).</a:t>
            </a:r>
            <a:endParaRPr sz="1400" b="0">
              <a:solidFill>
                <a:srgbClr val="595959"/>
              </a:solidFill>
              <a:latin typeface="Lato"/>
              <a:ea typeface="Lato"/>
              <a:cs typeface="Lato"/>
              <a:sym typeface="Lato"/>
            </a:endParaRPr>
          </a:p>
          <a:p>
            <a:pPr marL="0" lvl="0" indent="0" algn="l" rtl="0">
              <a:spcBef>
                <a:spcPts val="1500"/>
              </a:spcBef>
              <a:spcAft>
                <a:spcPts val="0"/>
              </a:spcAft>
              <a:buNone/>
            </a:pPr>
            <a:r>
              <a:rPr lang="en" sz="1400" b="0">
                <a:solidFill>
                  <a:srgbClr val="595959"/>
                </a:solidFill>
                <a:latin typeface="Lato"/>
                <a:ea typeface="Lato"/>
                <a:cs typeface="Lato"/>
                <a:sym typeface="Lato"/>
              </a:rPr>
              <a:t>Using this compression method, I was able to get a compression ratio of about </a:t>
            </a:r>
            <a:r>
              <a:rPr lang="en" sz="1400" b="1">
                <a:solidFill>
                  <a:srgbClr val="1A9988"/>
                </a:solidFill>
                <a:latin typeface="Lato"/>
                <a:ea typeface="Lato"/>
                <a:cs typeface="Lato"/>
                <a:sym typeface="Lato"/>
              </a:rPr>
              <a:t>3:1</a:t>
            </a:r>
            <a:r>
              <a:rPr lang="en" sz="1400" b="0">
                <a:solidFill>
                  <a:srgbClr val="595959"/>
                </a:solidFill>
                <a:latin typeface="Lato"/>
                <a:ea typeface="Lato"/>
                <a:cs typeface="Lato"/>
                <a:sym typeface="Lato"/>
              </a:rPr>
              <a:t> for various tests.</a:t>
            </a:r>
            <a:endParaRPr sz="1400" b="0">
              <a:solidFill>
                <a:srgbClr val="595959"/>
              </a:solidFill>
              <a:latin typeface="Lato"/>
              <a:ea typeface="Lato"/>
              <a:cs typeface="Lato"/>
              <a:sym typeface="Lato"/>
            </a:endParaRPr>
          </a:p>
        </p:txBody>
      </p:sp>
      <p:pic>
        <p:nvPicPr>
          <p:cNvPr id="217" name="Google Shape;217;p28"/>
          <p:cNvPicPr preferRelativeResize="0"/>
          <p:nvPr/>
        </p:nvPicPr>
        <p:blipFill rotWithShape="1">
          <a:blip r:embed="rId3">
            <a:alphaModFix/>
          </a:blip>
          <a:srcRect t="10"/>
          <a:stretch/>
        </p:blipFill>
        <p:spPr>
          <a:xfrm>
            <a:off x="4943525" y="2126925"/>
            <a:ext cx="3999300" cy="2681400"/>
          </a:xfrm>
          <a:prstGeom prst="rect">
            <a:avLst/>
          </a:prstGeom>
          <a:noFill/>
          <a:ln>
            <a:noFill/>
          </a:ln>
        </p:spPr>
      </p:pic>
      <p:pic>
        <p:nvPicPr>
          <p:cNvPr id="218" name="Google Shape;218;p28"/>
          <p:cNvPicPr preferRelativeResize="0"/>
          <p:nvPr/>
        </p:nvPicPr>
        <p:blipFill>
          <a:blip r:embed="rId4">
            <a:alphaModFix/>
          </a:blip>
          <a:stretch>
            <a:fillRect/>
          </a:stretch>
        </p:blipFill>
        <p:spPr>
          <a:xfrm>
            <a:off x="2152526" y="3071091"/>
            <a:ext cx="2047950" cy="19474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29"/>
          <p:cNvGrpSpPr/>
          <p:nvPr/>
        </p:nvGrpSpPr>
        <p:grpSpPr>
          <a:xfrm>
            <a:off x="830392" y="1191256"/>
            <a:ext cx="745763" cy="45826"/>
            <a:chOff x="4580561" y="2589004"/>
            <a:chExt cx="1064464" cy="25200"/>
          </a:xfrm>
        </p:grpSpPr>
        <p:sp>
          <p:nvSpPr>
            <p:cNvPr id="225" name="Google Shape;225;p2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 name="Google Shape;227;p29"/>
          <p:cNvSpPr txBox="1">
            <a:spLocks noGrp="1"/>
          </p:cNvSpPr>
          <p:nvPr>
            <p:ph type="title"/>
          </p:nvPr>
        </p:nvSpPr>
        <p:spPr>
          <a:xfrm>
            <a:off x="729450" y="1238250"/>
            <a:ext cx="7688700" cy="535200"/>
          </a:xfrm>
          <a:prstGeom prst="rect">
            <a:avLst/>
          </a:prstGeom>
          <a:solidFill>
            <a:srgbClr val="000000">
              <a:alpha val="0"/>
            </a:srgbClr>
          </a:solidFill>
          <a:ln>
            <a:noFill/>
          </a:ln>
        </p:spPr>
        <p:txBody>
          <a:bodyPr spcFirstLastPara="1" wrap="square" lIns="91400" tIns="91400" rIns="91400" bIns="91400" anchor="t" anchorCtr="0">
            <a:noAutofit/>
          </a:bodyPr>
          <a:lstStyle/>
          <a:p>
            <a:pPr marL="0" lvl="0" indent="0" algn="l" rtl="0">
              <a:spcBef>
                <a:spcPts val="0"/>
              </a:spcBef>
              <a:spcAft>
                <a:spcPts val="0"/>
              </a:spcAft>
              <a:buNone/>
            </a:pPr>
            <a:r>
              <a:rPr lang="en" sz="2240">
                <a:solidFill>
                  <a:srgbClr val="1A1A1A"/>
                </a:solidFill>
                <a:latin typeface="Raleway"/>
                <a:ea typeface="Raleway"/>
                <a:cs typeface="Raleway"/>
                <a:sym typeface="Raleway"/>
              </a:rPr>
              <a:t>References</a:t>
            </a:r>
            <a:endParaRPr sz="2240" b="1">
              <a:solidFill>
                <a:srgbClr val="1A1A1A"/>
              </a:solidFill>
              <a:latin typeface="Raleway"/>
              <a:ea typeface="Raleway"/>
              <a:cs typeface="Raleway"/>
              <a:sym typeface="Raleway"/>
            </a:endParaRPr>
          </a:p>
        </p:txBody>
      </p:sp>
      <p:sp>
        <p:nvSpPr>
          <p:cNvPr id="228" name="Google Shape;228;p29"/>
          <p:cNvSpPr txBox="1"/>
          <p:nvPr/>
        </p:nvSpPr>
        <p:spPr>
          <a:xfrm>
            <a:off x="729450" y="2000250"/>
            <a:ext cx="7267800" cy="2286000"/>
          </a:xfrm>
          <a:prstGeom prst="rect">
            <a:avLst/>
          </a:prstGeom>
          <a:solidFill>
            <a:srgbClr val="000000">
              <a:alpha val="0"/>
            </a:srgbClr>
          </a:solidFill>
          <a:ln>
            <a:noFill/>
          </a:ln>
        </p:spPr>
        <p:txBody>
          <a:bodyPr spcFirstLastPara="1" wrap="square" lIns="91400" tIns="91400" rIns="91400" bIns="91400" anchor="t" anchorCtr="0">
            <a:noAutofit/>
          </a:bodyPr>
          <a:lstStyle/>
          <a:p>
            <a:pPr marL="0" lvl="0" indent="0" algn="l" rtl="0">
              <a:spcBef>
                <a:spcPts val="0"/>
              </a:spcBef>
              <a:spcAft>
                <a:spcPts val="0"/>
              </a:spcAft>
              <a:buNone/>
            </a:pPr>
            <a:r>
              <a:rPr lang="en">
                <a:solidFill>
                  <a:schemeClr val="accent1"/>
                </a:solidFill>
                <a:latin typeface="Lato"/>
                <a:ea typeface="Lato"/>
                <a:cs typeface="Lato"/>
                <a:sym typeface="Lato"/>
              </a:rPr>
              <a:t>G. K. Wallace, “The JPEG Still Picture Compression Standard,” Communications of the ACM, 1991.</a:t>
            </a:r>
            <a:endParaRPr>
              <a:solidFill>
                <a:srgbClr val="595959"/>
              </a:solidFill>
              <a:latin typeface="Lato"/>
              <a:ea typeface="Lato"/>
              <a:cs typeface="Lato"/>
              <a:sym typeface="Lato"/>
            </a:endParaRPr>
          </a:p>
          <a:p>
            <a:pPr marL="0" lvl="0" indent="0" algn="l" rtl="0">
              <a:spcBef>
                <a:spcPts val="0"/>
              </a:spcBef>
              <a:spcAft>
                <a:spcPts val="0"/>
              </a:spcAft>
              <a:buNone/>
            </a:pPr>
            <a:endParaRPr>
              <a:solidFill>
                <a:srgbClr val="595959"/>
              </a:solidFill>
              <a:latin typeface="Lato"/>
              <a:ea typeface="Lato"/>
              <a:cs typeface="Lato"/>
              <a:sym typeface="Lato"/>
            </a:endParaRPr>
          </a:p>
          <a:p>
            <a:pPr marL="0" lvl="0" indent="0" algn="l" rtl="0">
              <a:spcBef>
                <a:spcPts val="0"/>
              </a:spcBef>
              <a:spcAft>
                <a:spcPts val="0"/>
              </a:spcAft>
              <a:buNone/>
            </a:pPr>
            <a:r>
              <a:rPr lang="en">
                <a:solidFill>
                  <a:srgbClr val="595959"/>
                </a:solidFill>
                <a:latin typeface="Lato"/>
                <a:ea typeface="Lato"/>
                <a:cs typeface="Lato"/>
                <a:sym typeface="Lato"/>
              </a:rPr>
              <a:t>A. M. Raid, W. M. Khedr, M. A. El-dosuky, and W. Ahmed, “JPEG Image Compression Using Discrete Cosine Transform – A Survey,” International Journal of Computer Science &amp; Engineering Survey, vol. 5, no. 2, 2014.</a:t>
            </a:r>
            <a:endParaRPr>
              <a:solidFill>
                <a:srgbClr val="595959"/>
              </a:solidFill>
              <a:latin typeface="Lato"/>
              <a:ea typeface="Lato"/>
              <a:cs typeface="Lato"/>
              <a:sym typeface="Lato"/>
            </a:endParaRPr>
          </a:p>
          <a:p>
            <a:pPr marL="0" lvl="0" indent="0" algn="l" rtl="0">
              <a:spcBef>
                <a:spcPts val="0"/>
              </a:spcBef>
              <a:spcAft>
                <a:spcPts val="0"/>
              </a:spcAft>
              <a:buNone/>
            </a:pPr>
            <a:endParaRPr>
              <a:solidFill>
                <a:srgbClr val="595959"/>
              </a:solidFill>
              <a:latin typeface="Lato"/>
              <a:ea typeface="Lato"/>
              <a:cs typeface="Lato"/>
              <a:sym typeface="Lato"/>
            </a:endParaRPr>
          </a:p>
          <a:p>
            <a:pPr marL="0" lvl="0" indent="0" algn="l" rtl="0">
              <a:spcBef>
                <a:spcPts val="0"/>
              </a:spcBef>
              <a:spcAft>
                <a:spcPts val="0"/>
              </a:spcAft>
              <a:buNone/>
            </a:pPr>
            <a:r>
              <a:rPr lang="en">
                <a:solidFill>
                  <a:srgbClr val="595959"/>
                </a:solidFill>
                <a:latin typeface="Lato"/>
                <a:ea typeface="Lato"/>
                <a:cs typeface="Lato"/>
                <a:sym typeface="Lato"/>
              </a:rPr>
              <a:t>Reducible, “The Unreasonable Effectiveness of JPEG: A Signal Processing Approach,” YouTube video. </a:t>
            </a:r>
            <a:r>
              <a:rPr lang="en" u="sng">
                <a:solidFill>
                  <a:schemeClr val="hlink"/>
                </a:solidFill>
                <a:latin typeface="Lato"/>
                <a:ea typeface="Lato"/>
                <a:cs typeface="Lato"/>
                <a:sym typeface="Lato"/>
                <a:hlinkClick r:id="rId3"/>
              </a:rPr>
              <a:t>https://www.youtube.com/watch?v=0me3guauqOU</a:t>
            </a:r>
            <a:endParaRPr>
              <a:solidFill>
                <a:srgbClr val="595959"/>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701</Words>
  <Application>Microsoft Office PowerPoint</Application>
  <PresentationFormat>On-screen Show (16:9)</PresentationFormat>
  <Paragraphs>41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Lato</vt:lpstr>
      <vt:lpstr>Raleway</vt:lpstr>
      <vt:lpstr>Streamline</vt:lpstr>
      <vt:lpstr>JPEG Compression in OpenCV</vt:lpstr>
      <vt:lpstr>Introduction</vt:lpstr>
      <vt:lpstr>How JPEG Works</vt:lpstr>
      <vt:lpstr>Color Space</vt:lpstr>
      <vt:lpstr>Block Splitting</vt:lpstr>
      <vt:lpstr>Discrete Cosine Transform (DCT)</vt:lpstr>
      <vt:lpstr>8x8 FDCT and IDCT</vt:lpstr>
      <vt:lpstr>Quantization</vt:lpstr>
      <vt:lpstr>Zigzag Scanning</vt:lpstr>
      <vt:lpstr>Run-length Encoding</vt:lpstr>
      <vt:lpstr>Saving the Image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Andrei Mocian</cp:lastModifiedBy>
  <cp:revision>1</cp:revision>
  <dcterms:modified xsi:type="dcterms:W3CDTF">2026-06-02T11:12:01Z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2026-06-02T11:12:01Z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20188163-494f-452b-92ec-2549d1d63c9f</vt:lpwstr>
  </property>
  <property fmtid="{D5CDD505-2E9C-101B-9397-08002B2CF9AE}" pid="8" name="MSIP_Label_5b58b62f-6f94-46bd-8089-18e64b0a9abb_ContentBits">
    <vt:lpwstr>0</vt:lpwstr>
  </property>
  <property fmtid="{D5CDD505-2E9C-101B-9397-08002B2CF9AE}" pid="9" name="MSIP_Label_5b58b62f-6f94-46bd-8089-18e64b0a9abb_Tag">
    <vt:lpwstr>10, 3, 0, 1</vt:lpwstr>
  </property>
</Properties>
</file>